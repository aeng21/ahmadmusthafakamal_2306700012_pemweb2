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embeddedFontLst>
    <p:embeddedFont>
      <p:font typeface="Inter SemiBold" charset="0"/>
      <p:regular r:id="rId22"/>
      <p:bold r:id="rId23"/>
      <p:italic r:id="rId24"/>
      <p:boldItalic r:id="rId25"/>
    </p:embeddedFont>
    <p:embeddedFont>
      <p:font typeface="Inter" charset="0"/>
      <p:regular r:id="rId26"/>
      <p:bold r:id="rId27"/>
      <p:italic r:id="rId28"/>
      <p:boldItalic r:id="rId29"/>
    </p:embeddedFont>
    <p:embeddedFont>
      <p:font typeface="Outfit" charset="0"/>
      <p:regular r:id="rId30"/>
      <p:bold r:id="rId31"/>
    </p:embeddedFont>
    <p:embeddedFont>
      <p:font typeface="Outfit SemiBold" charset="0"/>
      <p:regular r:id="rId32"/>
      <p:bold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BD685A2-D771-4BFE-9D4B-4E8A5AD4F971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Style>
        <a:tcBdr/>
        <a:fill>
          <a:solidFill>
            <a:srgbClr val="CFD7E7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7E7"/>
          </a:solidFill>
        </a:fill>
      </a:tcStyle>
    </a:band1V>
    <a:band2V>
      <a:tcStyle>
        <a:tcBdr/>
      </a:tcStyle>
    </a:band2V>
    <a:la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202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font" Target="fonts/font12.fntdata"/><Relationship Id="rId32" Type="http://schemas.openxmlformats.org/officeDocument/2006/relationships/font" Target="fonts/font11.fntdata"/><Relationship Id="rId31" Type="http://schemas.openxmlformats.org/officeDocument/2006/relationships/font" Target="fonts/font10.fntdata"/><Relationship Id="rId30" Type="http://schemas.openxmlformats.org/officeDocument/2006/relationships/font" Target="fonts/font9.fntdata"/><Relationship Id="rId3" Type="http://schemas.openxmlformats.org/officeDocument/2006/relationships/slide" Target="slides/slide1.xml"/><Relationship Id="rId29" Type="http://schemas.openxmlformats.org/officeDocument/2006/relationships/font" Target="fonts/font8.fntdata"/><Relationship Id="rId28" Type="http://schemas.openxmlformats.org/officeDocument/2006/relationships/font" Target="fonts/font7.fntdata"/><Relationship Id="rId27" Type="http://schemas.openxmlformats.org/officeDocument/2006/relationships/font" Target="fonts/font6.fntdata"/><Relationship Id="rId26" Type="http://schemas.openxmlformats.org/officeDocument/2006/relationships/font" Target="fonts/font5.fntdata"/><Relationship Id="rId25" Type="http://schemas.openxmlformats.org/officeDocument/2006/relationships/font" Target="fonts/font4.fntdata"/><Relationship Id="rId24" Type="http://schemas.openxmlformats.org/officeDocument/2006/relationships/font" Target="fonts/font3.fntdata"/><Relationship Id="rId23" Type="http://schemas.openxmlformats.org/officeDocument/2006/relationships/font" Target="fonts/font2.fntdata"/><Relationship Id="rId22" Type="http://schemas.openxmlformats.org/officeDocument/2006/relationships/font" Target="fonts/font1.fntdata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0" name="Google Shape;90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8" name="Google Shape;98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3" name="Google Shape;123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2" name="Google Shape;132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0" name="Google Shape;140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2" name="Google Shape;162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8" name="Google Shape;178;p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6" name="Google Shape;186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2" name="Google Shape;202;p1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3" name="Google Shape;233;p1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2" name="Google Shape;252;p1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4" name="Google Shape;274;p1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8" name="Google Shape;298;p1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1" name="Google Shape;321;p1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14.png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2" Type="http://schemas.openxmlformats.org/officeDocument/2006/relationships/notesSlide" Target="../notesSlides/notesSlide6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6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4.png"/><Relationship Id="rId8" Type="http://schemas.openxmlformats.org/officeDocument/2006/relationships/image" Target="../media/image33.png"/><Relationship Id="rId7" Type="http://schemas.openxmlformats.org/officeDocument/2006/relationships/image" Target="../media/image32.png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2" Type="http://schemas.openxmlformats.org/officeDocument/2006/relationships/notesSlide" Target="../notesSlides/notesSlide12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35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6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7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345406" y="2009030"/>
            <a:ext cx="950118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818C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PEMROGRAMAN WEB 2</a:t>
            </a:r>
            <a:endParaRPr lang="en-US" sz="1950" b="0" i="0" u="none" strike="noStrike" cap="none">
              <a:solidFill>
                <a:srgbClr val="818CF8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345406" y="2418605"/>
            <a:ext cx="9501187" cy="1217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Pengantar &amp; Ekosistem Tools</a:t>
            </a:r>
            <a:endParaRPr lang="en-US" sz="5400" b="1" i="0" u="none" strike="noStrike" cap="none">
              <a:solidFill>
                <a:srgbClr val="F8FAFC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286000" y="4117627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Kontrak Kuliah, Instalasi Perangkat Lunak Lingkungan Kerja, dan Pemahaman Konsep Version Control System (Git)</a:t>
            </a:r>
            <a:endParaRPr lang="en-US" sz="1800" b="0" i="0" u="none" strike="noStrike" cap="non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125878" y="1667916"/>
            <a:ext cx="1940242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818CF8"/>
                </a:solidFill>
                <a:latin typeface="Outfit"/>
                <a:ea typeface="Outfit"/>
                <a:cs typeface="Outfit"/>
                <a:sym typeface="Outfit"/>
              </a:rPr>
              <a:t>BAGIAN 1</a:t>
            </a:r>
            <a:endParaRPr lang="en-US" sz="3000" b="1" i="0" u="none" strike="noStrike" cap="none">
              <a:solidFill>
                <a:srgbClr val="818CF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3060620" y="2239416"/>
            <a:ext cx="6070758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Kontrak Perkuliahan</a:t>
            </a:r>
            <a:endParaRPr lang="en-US" sz="4800" b="1" i="0" u="none" strike="noStrike" cap="none">
              <a:solidFill>
                <a:srgbClr val="F8FAFC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2286000" y="4001541"/>
            <a:ext cx="7620000" cy="118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Memahami aturan main kelas, etika pengerjaan tugas, dan proporsi penilaian agar Anda siap menghadapi tantangan di semester ini.</a:t>
            </a:r>
            <a:endParaRPr lang="en-US" sz="1950" b="0" i="0" u="none" strike="noStrike" cap="non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81025" y="1633537"/>
            <a:ext cx="5276850" cy="456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34125" y="1633537"/>
            <a:ext cx="5276850" cy="4562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971550" y="2024062"/>
            <a:ext cx="472059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Disiplin Kelas</a:t>
            </a:r>
            <a:endParaRPr lang="en-US" sz="1950" b="0" i="0" u="none" strike="noStrike" cap="none">
              <a:solidFill>
                <a:srgbClr val="38BDF8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971550" y="2433637"/>
            <a:ext cx="44958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6724650" y="2024062"/>
            <a:ext cx="472059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Pengerjaan &amp; Integritas Kode</a:t>
            </a:r>
            <a:endParaRPr lang="en-US" sz="1950" b="0" i="0" u="none" strike="noStrike" cap="none">
              <a:solidFill>
                <a:srgbClr val="38BDF8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6724650" y="2433637"/>
            <a:ext cx="44958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1257300" y="2511742"/>
            <a:ext cx="4210050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Kehadiran Minimal: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75% dari total pertemuan </a:t>
            </a:r>
            <a:endParaRPr lang="en-US" sz="1500" b="0" i="0" u="none" strike="noStrike" cap="non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1257300" y="2939097"/>
            <a:ext cx="42100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Toleransi Keterlambatan: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Maksimal 15 menit. Melampaui batas tersebut, absensi dicatat alfa.</a:t>
            </a:r>
            <a:endParaRPr lang="en-US" sz="1500" b="0" i="0" u="none" strike="noStrike" cap="non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1257300" y="3965892"/>
            <a:ext cx="42100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Komunikasi: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Etika pengiriman pesan ke Dosen (Ucapkan salam, sebut identitas, sampaikan tujuan ringkas, perhatikan jam kerja).</a:t>
            </a:r>
            <a:endParaRPr lang="en-US" sz="1500" b="0" i="0" u="none" strike="noStrike" cap="non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7010400" y="2633662"/>
            <a:ext cx="42100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Tenggat Waktu: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Keterlambatan unggah tugas di sistem *E-Learning* akan mendapat pengurangan poin progresif.</a:t>
            </a:r>
            <a:endParaRPr lang="en-US" sz="1500" b="0" i="0" u="none" strike="noStrike" cap="non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7010400" y="3690937"/>
            <a:ext cx="42100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Anti-Plagiasi: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Modifikasi (bukan *copy-paste* buta). Deteksi kode duplikat berakibat nilai 0 pada tugas terkait.</a:t>
            </a:r>
            <a:endParaRPr lang="en-US" sz="1500" b="0" i="0" u="none" strike="noStrike" cap="non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7010400" y="4748212"/>
            <a:ext cx="42100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Standar Pengumpulan: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Semua tugas coding (Praktik/Proyek) wajib disetor melalui URL repositori GitHub.</a:t>
            </a:r>
            <a:endParaRPr lang="en-US" sz="1500" b="0" i="0" u="none" strike="noStrike" cap="non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581025" y="581025"/>
            <a:ext cx="1158144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Aturan &amp; Standar Akademik</a:t>
            </a:r>
            <a:endParaRPr lang="en-US" sz="3300" b="0" i="0" u="none" strike="noStrike" cap="none">
              <a:solidFill>
                <a:srgbClr val="F8FAFC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581025" y="1247775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1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71550" y="2652712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71550" y="3049587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71550" y="4106862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724650" y="2764472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724650" y="3842067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724650" y="4909502"/>
            <a:ext cx="1143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81025" y="1219200"/>
            <a:ext cx="11029950" cy="539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809750" y="5124450"/>
            <a:ext cx="8572500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581025" y="247650"/>
            <a:ext cx="11581447" cy="507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Komponen Evaluasi &amp; Penilaian</a:t>
            </a:r>
            <a:endParaRPr lang="en-US" sz="3300" b="0" i="0" u="none" strike="noStrike" cap="none">
              <a:solidFill>
                <a:srgbClr val="F8FAFC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581025" y="91440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5085873" y="1667916"/>
            <a:ext cx="2020252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818CF8"/>
                </a:solidFill>
                <a:latin typeface="Outfit"/>
                <a:ea typeface="Outfit"/>
                <a:cs typeface="Outfit"/>
                <a:sym typeface="Outfit"/>
              </a:rPr>
              <a:t>BAGIAN 2</a:t>
            </a:r>
            <a:endParaRPr lang="en-US" sz="3000" b="1" i="0" u="none" strike="noStrike" cap="none">
              <a:solidFill>
                <a:srgbClr val="818CF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1905476" y="2239416"/>
            <a:ext cx="8381047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Kebutuhan Perangkat Lunak</a:t>
            </a:r>
            <a:endParaRPr lang="en-US" sz="4800" b="1" i="0" u="none" strike="noStrike" cap="none">
              <a:solidFill>
                <a:srgbClr val="F8FAFC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2286000" y="4001541"/>
            <a:ext cx="7620000" cy="958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Memahami peran penting Backend dan mempersiapkan perangkat lunak yang dibutuhkan untuk simulasi pengembangan.</a:t>
            </a:r>
            <a:endParaRPr lang="en-US" sz="1950" b="0" i="0" u="none" strike="noStrike" cap="non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8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81025" y="2324248"/>
            <a:ext cx="3486150" cy="3181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8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352925" y="2324248"/>
            <a:ext cx="3486150" cy="3181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8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124825" y="2324248"/>
            <a:ext cx="3486150" cy="3181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8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76300" y="2667148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>
            <a:off x="876300" y="3514725"/>
            <a:ext cx="2894965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E2E8F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Visual Studio Code</a:t>
            </a:r>
            <a:endParaRPr lang="en-US" sz="1950" b="0" i="0" u="none" strike="noStrike" cap="none">
              <a:solidFill>
                <a:srgbClr val="E2E8F0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148" name="Google Shape;148;p18"/>
          <p:cNvSpPr txBox="1"/>
          <p:nvPr/>
        </p:nvSpPr>
        <p:spPr>
          <a:xfrm>
            <a:off x="876300" y="3943498"/>
            <a:ext cx="2895600" cy="1218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Aplikasi Text Editor utama. Siapkan ekstensi pendukung seperti </a:t>
            </a:r>
            <a:r>
              <a:rPr lang="en-US" sz="1200" b="0" i="1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PHP Intelephense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untuk autokompleksi cerdas, </a:t>
            </a:r>
            <a:r>
              <a:rPr lang="en-US" sz="1200" b="0" i="1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Material Icon Theme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dan integrasi terminal bawaan.</a:t>
            </a:r>
            <a:endParaRPr lang="en-US" sz="1200" b="0" i="0" u="none" strike="noStrike" cap="non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49" name="Google Shape;149;p18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4648200" y="2667148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4648200" y="3514873"/>
            <a:ext cx="2090261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E2E8F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XAMPP / Laragon</a:t>
            </a:r>
            <a:endParaRPr lang="en-US" sz="1950" b="0" i="0" u="none" strike="noStrike" cap="none">
              <a:solidFill>
                <a:srgbClr val="E2E8F0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4648200" y="3943498"/>
            <a:ext cx="2895600" cy="1218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Lingkungan server lokal (Localhost). Bertugas menyimulasikan komputer Anda agar bisa menjalankan bahasa pemrograman server (PHP) dan memuat Database MySQL.</a:t>
            </a:r>
            <a:endParaRPr lang="en-US" sz="1200" b="0" i="0" u="none" strike="noStrike" cap="non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2" name="Google Shape;152;p18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8420100" y="2667148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/>
          <p:nvPr/>
        </p:nvSpPr>
        <p:spPr>
          <a:xfrm>
            <a:off x="8420100" y="3514873"/>
            <a:ext cx="195024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E2E8F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Composer (PHP)</a:t>
            </a:r>
            <a:endParaRPr lang="en-US" sz="1950" b="0" i="0" u="none" strike="noStrike" cap="none">
              <a:solidFill>
                <a:srgbClr val="E2E8F0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154" name="Google Shape;154;p18"/>
          <p:cNvSpPr txBox="1"/>
          <p:nvPr/>
        </p:nvSpPr>
        <p:spPr>
          <a:xfrm>
            <a:off x="8420100" y="3943498"/>
            <a:ext cx="2895600" cy="1218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Sebuah </a:t>
            </a:r>
            <a:r>
              <a:rPr lang="en-US" sz="1200" b="0" i="1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Dependency Manager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 Alat ini akan kita gunakan di minggu ke-3 untuk mengunduh kerangka kerja (framework) Laravel beserta paket keamanan tambahannya secara otomatis.</a:t>
            </a:r>
            <a:endParaRPr lang="en-US" sz="1200" b="0" i="0" u="none" strike="noStrike" cap="non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5" name="Google Shape;155;p18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990600" y="2819548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8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4800600" y="2819548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8" descr="image.png"/>
          <p:cNvPicPr preferRelativeResize="0"/>
          <p:nvPr/>
        </p:nvPicPr>
        <p:blipFill rotWithShape="1">
          <a:blip r:embed="rId10"/>
          <a:srcRect/>
          <a:stretch>
            <a:fillRect/>
          </a:stretch>
        </p:blipFill>
        <p:spPr>
          <a:xfrm>
            <a:off x="8553450" y="2819548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581025" y="581025"/>
            <a:ext cx="1158144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3 Senjata Utama (Tools) Kita</a:t>
            </a:r>
            <a:endParaRPr lang="en-US" sz="3300" b="0" i="0" u="none" strike="noStrike" cap="none">
              <a:solidFill>
                <a:srgbClr val="F8FAFC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581025" y="1247775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34125" y="1500187"/>
            <a:ext cx="52768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581025" y="1690687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Bahasa PHP berbeda dengan HTML. Browser (Chrome/Firefox)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tidak bisa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membaca kode PHP secara langsung.</a:t>
            </a:r>
            <a:endParaRPr lang="en-US" sz="1500" b="0" i="0" u="none" strike="noStrike" cap="non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7" name="Google Shape;167;p19"/>
          <p:cNvSpPr txBox="1"/>
          <p:nvPr/>
        </p:nvSpPr>
        <p:spPr>
          <a:xfrm>
            <a:off x="866775" y="2843212"/>
            <a:ext cx="49911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Fungsi Apache: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Mengubah komputer Anda menjadi Web Server. Apache menerjemahkan file PHP lalu mengirim hasilnya ke *browser* dalam wujud HTML murni.</a:t>
            </a:r>
            <a:endParaRPr lang="en-US" sz="1500" b="0" i="0" u="none" strike="noStrike" cap="non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8" name="Google Shape;168;p19"/>
          <p:cNvSpPr txBox="1"/>
          <p:nvPr/>
        </p:nvSpPr>
        <p:spPr>
          <a:xfrm>
            <a:off x="866775" y="4205287"/>
            <a:ext cx="4991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Fungsi MySQL: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Software pengelola basis data relasional. Tempat kita membuat tabel (Users, Produk, Pesanan) menggunakan bahasa SQL.</a:t>
            </a:r>
            <a:endParaRPr lang="en-US" sz="1500" b="0" i="0" u="none" strike="noStrike" cap="non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866775" y="5262562"/>
            <a:ext cx="4991100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Pengujian Lokal: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Memastikan web berjalan lancar di alamat http://localhost sebelum dipublikasi (hosting) ke internet sungguhan.</a:t>
            </a:r>
            <a:endParaRPr lang="en-US" sz="1500" b="0" i="0" u="none" strike="noStrike" cap="non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70" name="Google Shape;170;p19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43650" y="1509712"/>
            <a:ext cx="525780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581025" y="528637"/>
            <a:ext cx="1158144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Lingkungan Server Lokal (XAMPP)</a:t>
            </a:r>
            <a:endParaRPr lang="en-US" sz="3300" b="0" i="0" u="none" strike="noStrike" cap="none">
              <a:solidFill>
                <a:srgbClr val="F8FAFC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581025" y="1195387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p19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81025" y="2994342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81025" y="4356417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9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81025" y="5413692"/>
            <a:ext cx="1143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0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5090874" y="1667916"/>
            <a:ext cx="2010251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818CF8"/>
                </a:solidFill>
                <a:latin typeface="Outfit"/>
                <a:ea typeface="Outfit"/>
                <a:cs typeface="Outfit"/>
                <a:sym typeface="Outfit"/>
              </a:rPr>
              <a:t>BAGIAN 3</a:t>
            </a:r>
            <a:endParaRPr lang="en-US" sz="3000" b="1" i="0" u="none" strike="noStrike" cap="none">
              <a:solidFill>
                <a:srgbClr val="818CF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2685573" y="2239416"/>
            <a:ext cx="6820852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Version Control System</a:t>
            </a:r>
            <a:endParaRPr lang="en-US" sz="4800" b="1" i="0" u="none" strike="noStrike" cap="none">
              <a:solidFill>
                <a:srgbClr val="F8FAFC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2286000" y="4001541"/>
            <a:ext cx="7620000" cy="118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Mengenal Git dan GitHub sebagai standar industri untuk merekam sejarah kode, mengelola tugas, dan berkolaborasi secara profesional.</a:t>
            </a:r>
            <a:endParaRPr lang="en-US" sz="1950" b="0" i="0" u="none" strike="noStrike" cap="non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1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34125" y="1376362"/>
            <a:ext cx="52768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1"/>
          <p:cNvSpPr txBox="1"/>
          <p:nvPr/>
        </p:nvSpPr>
        <p:spPr>
          <a:xfrm>
            <a:off x="581025" y="1566862"/>
            <a:ext cx="52768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Pernahkah Anda membuat file dengan nama: </a:t>
            </a:r>
            <a:r>
              <a:rPr lang="en-US" sz="1500" b="0" i="1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tugas_akhir.zip, tugas_akhir_revisi.zip, tugas_akhir_final_bgt.zip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? Git memecahkan masalah konyol ini.</a:t>
            </a:r>
            <a:endParaRPr lang="en-US" sz="1500" b="0" i="0" u="none" strike="noStrike" cap="non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866775" y="2976562"/>
            <a:ext cx="4991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Perekam Jejak: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Git memantau dan menyimpan seluruh perubahan baris kode per detiknya. Anda bisa tahu "siapa yang menghapus baris 24 kemarin?".</a:t>
            </a:r>
            <a:endParaRPr lang="en-US" sz="1500" b="0" i="0" u="none" strike="noStrike" cap="non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866775" y="4033837"/>
            <a:ext cx="49911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Sistem Rollback: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Jika Anda membuat fitur baru namun aplikasi malah rusak, Anda bisa membatalkan (mengembalikan) kode ke kondisi aman 1 jam yang lalu.</a:t>
            </a:r>
            <a:endParaRPr lang="en-US" sz="1500" b="0" i="0" u="none" strike="noStrike" cap="non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866775" y="5202872"/>
            <a:ext cx="4991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Percabangan (Branching):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Memungkinkan bereksperimen aman tanpa merusak kode utama aplikasi.</a:t>
            </a:r>
            <a:endParaRPr lang="en-US" sz="1500" b="0" i="0" u="none" strike="noStrike" cap="non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94" name="Google Shape;194;p21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43650" y="1385887"/>
            <a:ext cx="525780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1"/>
          <p:cNvSpPr txBox="1"/>
          <p:nvPr/>
        </p:nvSpPr>
        <p:spPr>
          <a:xfrm>
            <a:off x="581025" y="404812"/>
            <a:ext cx="1158144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Apa itu Git? (Mesin Waktu Kode)</a:t>
            </a:r>
            <a:endParaRPr lang="en-US" sz="3300" b="0" i="0" u="none" strike="noStrike" cap="none">
              <a:solidFill>
                <a:srgbClr val="F8FAFC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581025" y="1071562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7" name="Google Shape;197;p21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81025" y="3117532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81025" y="4174807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1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81025" y="5343842"/>
            <a:ext cx="1143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2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2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81025" y="1562100"/>
            <a:ext cx="5276850" cy="47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2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34125" y="1562100"/>
            <a:ext cx="5276850" cy="470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2"/>
          <p:cNvSpPr txBox="1"/>
          <p:nvPr/>
        </p:nvSpPr>
        <p:spPr>
          <a:xfrm>
            <a:off x="971550" y="1952625"/>
            <a:ext cx="472059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43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Git (Mesinnya)</a:t>
            </a:r>
            <a:endParaRPr lang="en-US" sz="1950" b="0" i="0" u="none" strike="noStrike" cap="none">
              <a:solidFill>
                <a:srgbClr val="38BDF8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208" name="Google Shape;208;p22"/>
          <p:cNvSpPr/>
          <p:nvPr/>
        </p:nvSpPr>
        <p:spPr>
          <a:xfrm>
            <a:off x="971550" y="2362200"/>
            <a:ext cx="44958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/>
          <p:cNvSpPr txBox="1"/>
          <p:nvPr/>
        </p:nvSpPr>
        <p:spPr>
          <a:xfrm>
            <a:off x="6724650" y="1952625"/>
            <a:ext cx="472059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GitHub (Gudangnya)</a:t>
            </a:r>
            <a:endParaRPr lang="en-US" sz="1950" b="0" i="0" u="none" strike="noStrike" cap="none">
              <a:solidFill>
                <a:srgbClr val="38BDF8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6724650" y="2362200"/>
            <a:ext cx="44958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p22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71550" y="1990725"/>
            <a:ext cx="2190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2"/>
          <p:cNvSpPr txBox="1"/>
          <p:nvPr/>
        </p:nvSpPr>
        <p:spPr>
          <a:xfrm>
            <a:off x="1257300" y="2450465"/>
            <a:ext cx="42100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Merupakan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perangkat lunak (software)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gratis yang harus diinstal di dalam komputer/laptop Anda.</a:t>
            </a:r>
            <a:endParaRPr lang="en-US" sz="1500" b="0" i="0" u="none" strike="noStrike" cap="non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3" name="Google Shape;213;p22"/>
          <p:cNvSpPr txBox="1"/>
          <p:nvPr/>
        </p:nvSpPr>
        <p:spPr>
          <a:xfrm>
            <a:off x="1257300" y="3507740"/>
            <a:ext cx="42100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Berjalan secara </a:t>
            </a:r>
            <a:r>
              <a:rPr lang="en-US" sz="1500" b="0" i="1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Offline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(Lokal).</a:t>
            </a:r>
            <a:endParaRPr lang="en-US" sz="1500" b="0" i="0" u="none" strike="noStrike" cap="non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4" name="Google Shape;214;p22"/>
          <p:cNvSpPr txBox="1"/>
          <p:nvPr/>
        </p:nvSpPr>
        <p:spPr>
          <a:xfrm>
            <a:off x="1257300" y="3955415"/>
            <a:ext cx="42100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Digunakan melalui antarmuka baris perintah (Terminal/Command Prompt).</a:t>
            </a:r>
            <a:endParaRPr lang="en-US" sz="1500" b="0" i="0" u="none" strike="noStrike" cap="non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5" name="Google Shape;215;p22"/>
          <p:cNvSpPr txBox="1"/>
          <p:nvPr/>
        </p:nvSpPr>
        <p:spPr>
          <a:xfrm>
            <a:off x="1257300" y="4707890"/>
            <a:ext cx="42100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Tugasnya murni mengawasi dan mencatat sejarah setiap perubahan file di komputer Anda.</a:t>
            </a:r>
            <a:endParaRPr lang="en-US" sz="1500" b="0" i="0" u="none" strike="noStrike" cap="non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16" name="Google Shape;216;p22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724650" y="1990725"/>
            <a:ext cx="2381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 txBox="1"/>
          <p:nvPr/>
        </p:nvSpPr>
        <p:spPr>
          <a:xfrm>
            <a:off x="7010400" y="2440305"/>
            <a:ext cx="42100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Merupakan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website layanan cloud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(seperti Google Drive, tapi khusus untuk pemrogram).</a:t>
            </a:r>
            <a:endParaRPr lang="en-US" sz="1500" b="0" i="0" u="none" strike="noStrike" cap="non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8" name="Google Shape;218;p22"/>
          <p:cNvSpPr txBox="1"/>
          <p:nvPr/>
        </p:nvSpPr>
        <p:spPr>
          <a:xfrm>
            <a:off x="7010400" y="3192780"/>
            <a:ext cx="42100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Membutuhkan koneksi Internet (</a:t>
            </a:r>
            <a:r>
              <a:rPr lang="en-US" sz="1500" b="0" i="1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Online / Remote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lang="en-US" sz="1500" b="0" i="0" u="none" strike="noStrike" cap="non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7010400" y="3945255"/>
            <a:ext cx="42100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Berfungsi sebagai tempat menaruh, memamerkan, atau men-</a:t>
            </a:r>
            <a:r>
              <a:rPr lang="en-US" sz="1500" b="0" i="1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download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hasil kerja Git lokal Anda.</a:t>
            </a:r>
            <a:endParaRPr lang="en-US" sz="1500" b="0" i="0" u="none" strike="noStrike" cap="non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0" name="Google Shape;220;p22"/>
          <p:cNvSpPr txBox="1"/>
          <p:nvPr/>
        </p:nvSpPr>
        <p:spPr>
          <a:xfrm>
            <a:off x="7010400" y="5002530"/>
            <a:ext cx="42100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Sangat penting untuk pengerjaan proyek berkelompok lintas daerah.</a:t>
            </a:r>
            <a:endParaRPr lang="en-US" sz="1500" b="0" i="0" u="none" strike="noStrike" cap="non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1" name="Google Shape;221;p22"/>
          <p:cNvSpPr txBox="1"/>
          <p:nvPr/>
        </p:nvSpPr>
        <p:spPr>
          <a:xfrm>
            <a:off x="581025" y="581025"/>
            <a:ext cx="1158144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Memahami Beda Git &amp; GitHub</a:t>
            </a:r>
            <a:endParaRPr lang="en-US" sz="3300" b="0" i="0" u="none" strike="noStrike" cap="none">
              <a:solidFill>
                <a:srgbClr val="F8FAFC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581025" y="1247775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" name="Google Shape;223;p22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971550" y="2581275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2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971550" y="363855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2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971550" y="4086225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2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971550" y="483870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2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6724650" y="2581275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2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6724650" y="333375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2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6724650" y="4086225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2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6724650" y="5143500"/>
            <a:ext cx="1143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3"/>
          <p:cNvSpPr/>
          <p:nvPr/>
        </p:nvSpPr>
        <p:spPr>
          <a:xfrm>
            <a:off x="1333500" y="1278433"/>
            <a:ext cx="9525000" cy="1525785"/>
          </a:xfrm>
          <a:prstGeom prst="roundRect">
            <a:avLst>
              <a:gd name="adj" fmla="val 7491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 txBox="1"/>
          <p:nvPr/>
        </p:nvSpPr>
        <p:spPr>
          <a:xfrm>
            <a:off x="2047875" y="1516558"/>
            <a:ext cx="8524875" cy="1049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Working Directory (Ruang Kerja)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Area nyata tempat Anda berada. Saat Anda membuat file baru (misal: index.php) atau mengedit teks, Anda sedang berada di fase Working Directory.</a:t>
            </a:r>
            <a:endParaRPr lang="en-US" sz="1500" b="0" i="0" u="none" strike="noStrike" cap="non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1333500" y="3042344"/>
            <a:ext cx="9525000" cy="1516260"/>
          </a:xfrm>
          <a:prstGeom prst="roundRect">
            <a:avLst>
              <a:gd name="adj" fmla="val 7538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 txBox="1"/>
          <p:nvPr/>
        </p:nvSpPr>
        <p:spPr>
          <a:xfrm>
            <a:off x="2047875" y="3280469"/>
            <a:ext cx="8524875" cy="1040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Staging Area (Ruang Persiapan)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Area transit. Tempat meletakkan file-file yang sudah selesai Anda edit hari ini, tapi masih butuh direviu sebelum Anda simpan/bungkus secara permanen.</a:t>
            </a:r>
            <a:endParaRPr lang="en-US" sz="1500" b="0" i="0" u="none" strike="noStrike" cap="non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1333500" y="4796730"/>
            <a:ext cx="9525000" cy="1516260"/>
          </a:xfrm>
          <a:prstGeom prst="roundRect">
            <a:avLst>
              <a:gd name="adj" fmla="val 7538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 txBox="1"/>
          <p:nvPr/>
        </p:nvSpPr>
        <p:spPr>
          <a:xfrm>
            <a:off x="2047875" y="5034855"/>
            <a:ext cx="8524875" cy="1040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Local Repository (Gudang Tersimpan)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Ruang penyimpanan permanen. Saat file sudah masuk ke tahap ini, Git sudah menstempel versi, memberikan ID unik, dan file tersebut resmi menjadi bagian dari "sejarah" proyek.</a:t>
            </a:r>
            <a:endParaRPr lang="en-US" sz="1500" b="0" i="0" u="none" strike="noStrike" cap="non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1333500" y="2794694"/>
            <a:ext cx="9525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3" name="Google Shape;243;p2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560830" y="1756846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/>
          <p:nvPr/>
        </p:nvSpPr>
        <p:spPr>
          <a:xfrm>
            <a:off x="1333500" y="4549080"/>
            <a:ext cx="9525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1333500" y="6303466"/>
            <a:ext cx="9525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6" name="Google Shape;246;p23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560830" y="3506470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3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560830" y="5260855"/>
            <a:ext cx="2667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3"/>
          <p:cNvSpPr txBox="1"/>
          <p:nvPr/>
        </p:nvSpPr>
        <p:spPr>
          <a:xfrm>
            <a:off x="581025" y="306883"/>
            <a:ext cx="1158144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3 Ruang (Pohon) Kerja Git</a:t>
            </a:r>
            <a:endParaRPr lang="en-US" sz="3300" b="0" i="0" u="none" strike="noStrike" cap="none">
              <a:solidFill>
                <a:srgbClr val="F8FAFC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581025" y="973633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81025" y="2157561"/>
            <a:ext cx="3486150" cy="3514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352925" y="2157561"/>
            <a:ext cx="3486150" cy="3514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4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124825" y="2157561"/>
            <a:ext cx="3486150" cy="3514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4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76300" y="2500461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4"/>
          <p:cNvSpPr txBox="1"/>
          <p:nvPr/>
        </p:nvSpPr>
        <p:spPr>
          <a:xfrm>
            <a:off x="876300" y="3348355"/>
            <a:ext cx="2896235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E2E8F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1. Add (Menambahkan)</a:t>
            </a:r>
            <a:endParaRPr lang="en-US" sz="1950" b="0" i="0" u="none" strike="noStrike" cap="none">
              <a:solidFill>
                <a:srgbClr val="E2E8F0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260" name="Google Shape;260;p24"/>
          <p:cNvSpPr txBox="1"/>
          <p:nvPr/>
        </p:nvSpPr>
        <p:spPr>
          <a:xfrm>
            <a:off x="876300" y="3776811"/>
            <a:ext cx="2895600" cy="1237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Gunakan perintah git add namafile.php atau git add . (untuk semua file). Langkah ini memindahkan file dari Working Directory masuk ke dalam Staging Area untuk dipersiapkan.</a:t>
            </a:r>
            <a:endParaRPr lang="en-US" sz="1200" b="0" i="0" u="none" strike="noStrike" cap="non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61" name="Google Shape;261;p24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4648200" y="2500461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4"/>
          <p:cNvSpPr txBox="1"/>
          <p:nvPr/>
        </p:nvSpPr>
        <p:spPr>
          <a:xfrm>
            <a:off x="4648200" y="3348186"/>
            <a:ext cx="304038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E2E8F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2. Commit (Bungkus &amp; Stempel)</a:t>
            </a:r>
            <a:endParaRPr lang="en-US" sz="1950" b="0" i="0" u="none" strike="noStrike" cap="none">
              <a:solidFill>
                <a:srgbClr val="E2E8F0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263" name="Google Shape;263;p24"/>
          <p:cNvSpPr txBox="1"/>
          <p:nvPr/>
        </p:nvSpPr>
        <p:spPr>
          <a:xfrm>
            <a:off x="4648200" y="4091136"/>
            <a:ext cx="2895600" cy="1237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Gunakan perintah git commit -m "membuat form login". Memindahkan file dari Staging ke Local Repo. Wajib memberikan pesan deskripsi agar tahu apa yang baru saja Anda kerjakan.</a:t>
            </a:r>
            <a:endParaRPr lang="en-US" sz="1200" b="0" i="0" u="none" strike="noStrike" cap="non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64" name="Google Shape;264;p24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8420100" y="2500461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4"/>
          <p:cNvSpPr txBox="1"/>
          <p:nvPr/>
        </p:nvSpPr>
        <p:spPr>
          <a:xfrm>
            <a:off x="8420100" y="3348355"/>
            <a:ext cx="3062605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E2E8F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3. Push (Dorong ke Awan)</a:t>
            </a:r>
            <a:endParaRPr lang="en-US" sz="1950" b="0" i="0" u="none" strike="noStrike" cap="none">
              <a:solidFill>
                <a:srgbClr val="E2E8F0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266" name="Google Shape;266;p24"/>
          <p:cNvSpPr txBox="1"/>
          <p:nvPr/>
        </p:nvSpPr>
        <p:spPr>
          <a:xfrm>
            <a:off x="8420100" y="3776811"/>
            <a:ext cx="2895600" cy="1228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Gunakan perintah git push origin main. Langkah terakhir ini akan mengunggah (upload) seluruh sejarah file tersimpan dari laptop Anda naik ke repository online (GitHub).</a:t>
            </a:r>
            <a:endParaRPr lang="en-US" sz="1200" b="0" i="0" u="none" strike="noStrike" cap="non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67" name="Google Shape;267;p24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1047750" y="2652861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4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4819650" y="2652861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4" descr="image.png"/>
          <p:cNvPicPr preferRelativeResize="0"/>
          <p:nvPr/>
        </p:nvPicPr>
        <p:blipFill rotWithShape="1">
          <a:blip r:embed="rId10"/>
          <a:srcRect/>
          <a:stretch>
            <a:fillRect/>
          </a:stretch>
        </p:blipFill>
        <p:spPr>
          <a:xfrm>
            <a:off x="8534400" y="2652861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4"/>
          <p:cNvSpPr txBox="1"/>
          <p:nvPr/>
        </p:nvSpPr>
        <p:spPr>
          <a:xfrm>
            <a:off x="581025" y="581025"/>
            <a:ext cx="1158144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Alur Kerja Harian Programmer (Proses Git)</a:t>
            </a:r>
            <a:endParaRPr lang="en-US" sz="3300" b="0" i="0" u="none" strike="noStrike" cap="none">
              <a:solidFill>
                <a:srgbClr val="F8FAFC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271" name="Google Shape;271;p24"/>
          <p:cNvSpPr/>
          <p:nvPr/>
        </p:nvSpPr>
        <p:spPr>
          <a:xfrm>
            <a:off x="581025" y="1247775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2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5"/>
          <p:cNvSpPr/>
          <p:nvPr/>
        </p:nvSpPr>
        <p:spPr>
          <a:xfrm>
            <a:off x="857250" y="1495573"/>
            <a:ext cx="10477500" cy="4838400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8" name="Google Shape;278;p25"/>
          <p:cNvGraphicFramePr/>
          <p:nvPr/>
        </p:nvGraphicFramePr>
        <p:xfrm>
          <a:off x="857250" y="1495573"/>
          <a:ext cx="10477500" cy="4838450"/>
        </p:xfrm>
        <a:graphic>
          <a:graphicData uri="http://schemas.openxmlformats.org/drawingml/2006/table">
            <a:tbl>
              <a:tblPr firstRow="1" bandRow="1">
                <a:noFill/>
                <a:tableStyleId>{DBD685A2-D771-4BFE-9D4B-4E8A5AD4F971}</a:tableStyleId>
              </a:tblPr>
              <a:tblGrid>
                <a:gridCol w="2619375"/>
                <a:gridCol w="5238750"/>
                <a:gridCol w="2619375"/>
              </a:tblGrid>
              <a:tr h="806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bg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Perintah Terminal</a:t>
                      </a:r>
                      <a:endParaRPr lang="en-US" sz="1350" b="1" i="0" u="none" strike="noStrike" cap="none">
                        <a:solidFill>
                          <a:schemeClr val="bg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bg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Fungsi &amp; Deskripsi Utama</a:t>
                      </a:r>
                      <a:endParaRPr lang="en-US" sz="1350" b="1" i="0" u="none" strike="noStrike" cap="none">
                        <a:solidFill>
                          <a:schemeClr val="bg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bg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Tahapan Eksekusi</a:t>
                      </a:r>
                      <a:endParaRPr lang="en-US" sz="1350" b="1" i="0" u="none" strike="noStrike" cap="none">
                        <a:solidFill>
                          <a:schemeClr val="bg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  <a:tr h="806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bg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git init</a:t>
                      </a:r>
                      <a:endParaRPr lang="en-US" sz="1350" b="0" i="0" u="none" strike="noStrike" cap="none">
                        <a:solidFill>
                          <a:schemeClr val="bg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012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bg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Membuat (menginisialisasi) repositori Git baru di folder kosong lokal Anda.</a:t>
                      </a:r>
                      <a:endParaRPr lang="en-US" sz="1350" b="0" i="0" u="none" strike="noStrike" cap="none">
                        <a:solidFill>
                          <a:schemeClr val="bg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012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bg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Dilakukan 1x di awal proyek.</a:t>
                      </a:r>
                      <a:endParaRPr lang="en-US" sz="1350" b="0" i="0" u="none" strike="noStrike" cap="none">
                        <a:solidFill>
                          <a:schemeClr val="bg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0124D"/>
                    </a:solidFill>
                  </a:tcPr>
                </a:tc>
              </a:tr>
              <a:tr h="806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bg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git clone </a:t>
                      </a:r>
                      <a:endParaRPr lang="en-US" sz="1350" b="0" i="0" u="none" strike="noStrike" cap="none">
                        <a:solidFill>
                          <a:schemeClr val="bg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012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bg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Mengunduh (menyalin) satu proyek web utuh dari GitHub langsung ke laptop Anda.</a:t>
                      </a:r>
                      <a:endParaRPr lang="en-US" sz="1350" b="0" i="0" u="none" strike="noStrike" cap="none">
                        <a:solidFill>
                          <a:schemeClr val="bg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012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bg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Dilakukan 1x saat bergabung tim.</a:t>
                      </a:r>
                      <a:endParaRPr lang="en-US" sz="1350" b="0" i="0" u="none" strike="noStrike" cap="none">
                        <a:solidFill>
                          <a:schemeClr val="bg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0124D"/>
                    </a:solidFill>
                  </a:tcPr>
                </a:tc>
              </a:tr>
              <a:tr h="806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bg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git status</a:t>
                      </a:r>
                      <a:endParaRPr lang="en-US" sz="1350" b="0" i="0" u="none" strike="noStrike" cap="none">
                        <a:solidFill>
                          <a:schemeClr val="bg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012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bg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Melihat status file Anda saat ini (apakah ada yang berubah, belum tersimpan, atau error).</a:t>
                      </a:r>
                      <a:endParaRPr lang="en-US" sz="1350" b="0" i="0" u="none" strike="noStrike" cap="none">
                        <a:solidFill>
                          <a:schemeClr val="bg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012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bg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Dilakukan kapan saja (pengecekan).</a:t>
                      </a:r>
                      <a:endParaRPr lang="en-US" sz="1350" b="0" i="0" u="none" strike="noStrike" cap="none">
                        <a:solidFill>
                          <a:schemeClr val="bg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0124D"/>
                    </a:solidFill>
                  </a:tcPr>
                </a:tc>
              </a:tr>
              <a:tr h="806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bg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git log</a:t>
                      </a:r>
                      <a:endParaRPr lang="en-US" sz="1350" b="0" i="0" u="none" strike="noStrike" cap="none">
                        <a:solidFill>
                          <a:schemeClr val="bg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012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bg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Melihat daftar riwayat (sejarah) commit yang pernah dilakukan secara urut dari terbaru.</a:t>
                      </a:r>
                      <a:endParaRPr lang="en-US" sz="1350" b="0" i="0" u="none" strike="noStrike" cap="none">
                        <a:solidFill>
                          <a:schemeClr val="bg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012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bg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Dilakukan kapan saja (audit kode).</a:t>
                      </a:r>
                      <a:endParaRPr lang="en-US" sz="1350" b="0" i="0" u="none" strike="noStrike" cap="none">
                        <a:solidFill>
                          <a:schemeClr val="bg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0124D"/>
                    </a:solidFill>
                  </a:tcPr>
                </a:tc>
              </a:tr>
              <a:tr h="806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bg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git pull origin main</a:t>
                      </a:r>
                      <a:endParaRPr lang="en-US" sz="1350" b="0" i="0" u="none" strike="noStrike" cap="none">
                        <a:solidFill>
                          <a:schemeClr val="bg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012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bg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Menarik (download) perubahan/update kode terbaru dari GitHub ke laptop Anda.</a:t>
                      </a:r>
                      <a:endParaRPr lang="en-US" sz="1350" b="0" i="0" u="none" strike="noStrike" cap="none">
                        <a:solidFill>
                          <a:schemeClr val="bg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012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bg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Dilakukan tiap pagi sebelum coding.</a:t>
                      </a:r>
                      <a:endParaRPr lang="en-US" sz="1350" b="0" i="0" u="none" strike="noStrike" cap="none">
                        <a:solidFill>
                          <a:schemeClr val="bg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0124D"/>
                    </a:solidFill>
                  </a:tcPr>
                </a:tc>
              </a:tr>
            </a:tbl>
          </a:graphicData>
        </a:graphic>
      </p:graphicFrame>
      <p:sp>
        <p:nvSpPr>
          <p:cNvPr id="282" name="Google Shape;282;p25"/>
          <p:cNvSpPr/>
          <p:nvPr/>
        </p:nvSpPr>
        <p:spPr>
          <a:xfrm>
            <a:off x="857250" y="2877591"/>
            <a:ext cx="26193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5"/>
          <p:cNvSpPr/>
          <p:nvPr/>
        </p:nvSpPr>
        <p:spPr>
          <a:xfrm>
            <a:off x="3476625" y="2877591"/>
            <a:ext cx="52387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5"/>
          <p:cNvSpPr/>
          <p:nvPr/>
        </p:nvSpPr>
        <p:spPr>
          <a:xfrm>
            <a:off x="8715375" y="2877591"/>
            <a:ext cx="26193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/>
          <p:nvPr/>
        </p:nvSpPr>
        <p:spPr>
          <a:xfrm>
            <a:off x="857250" y="3740497"/>
            <a:ext cx="26193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5"/>
          <p:cNvSpPr/>
          <p:nvPr/>
        </p:nvSpPr>
        <p:spPr>
          <a:xfrm>
            <a:off x="3476625" y="3740497"/>
            <a:ext cx="52387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5"/>
          <p:cNvSpPr/>
          <p:nvPr/>
        </p:nvSpPr>
        <p:spPr>
          <a:xfrm>
            <a:off x="8715375" y="3740497"/>
            <a:ext cx="26193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5"/>
          <p:cNvSpPr/>
          <p:nvPr/>
        </p:nvSpPr>
        <p:spPr>
          <a:xfrm>
            <a:off x="857250" y="4603402"/>
            <a:ext cx="26193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5"/>
          <p:cNvSpPr/>
          <p:nvPr/>
        </p:nvSpPr>
        <p:spPr>
          <a:xfrm>
            <a:off x="3476625" y="4603402"/>
            <a:ext cx="52387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5"/>
          <p:cNvSpPr/>
          <p:nvPr/>
        </p:nvSpPr>
        <p:spPr>
          <a:xfrm>
            <a:off x="8715375" y="4603402"/>
            <a:ext cx="26193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5"/>
          <p:cNvSpPr/>
          <p:nvPr/>
        </p:nvSpPr>
        <p:spPr>
          <a:xfrm>
            <a:off x="857250" y="5466308"/>
            <a:ext cx="26193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5"/>
          <p:cNvSpPr/>
          <p:nvPr/>
        </p:nvSpPr>
        <p:spPr>
          <a:xfrm>
            <a:off x="3476625" y="5466308"/>
            <a:ext cx="52387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5"/>
          <p:cNvSpPr/>
          <p:nvPr/>
        </p:nvSpPr>
        <p:spPr>
          <a:xfrm>
            <a:off x="8715375" y="5466308"/>
            <a:ext cx="26193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5"/>
          <p:cNvSpPr txBox="1"/>
          <p:nvPr/>
        </p:nvSpPr>
        <p:spPr>
          <a:xfrm>
            <a:off x="581025" y="524023"/>
            <a:ext cx="115815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Tabel Rangkuman Perintah Git</a:t>
            </a:r>
            <a:endParaRPr lang="en-US" sz="3300" b="0" i="0" u="none" strike="noStrike" cap="none">
              <a:solidFill>
                <a:srgbClr val="F8FAFC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295" name="Google Shape;295;p25"/>
          <p:cNvSpPr/>
          <p:nvPr/>
        </p:nvSpPr>
        <p:spPr>
          <a:xfrm>
            <a:off x="581025" y="1190773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2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6"/>
          <p:cNvSpPr txBox="1"/>
          <p:nvPr/>
        </p:nvSpPr>
        <p:spPr>
          <a:xfrm>
            <a:off x="581025" y="581025"/>
            <a:ext cx="554069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Praktikum Perdana &amp; Setup</a:t>
            </a:r>
            <a:endParaRPr lang="en-US" sz="3300" b="0" i="0" u="none" strike="noStrike" cap="none">
              <a:solidFill>
                <a:srgbClr val="F8FAFC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302" name="Google Shape;302;p26"/>
          <p:cNvSpPr/>
          <p:nvPr/>
        </p:nvSpPr>
        <p:spPr>
          <a:xfrm>
            <a:off x="581025" y="1247775"/>
            <a:ext cx="52768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3" name="Google Shape;303;p2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34125" y="9525"/>
            <a:ext cx="58483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6"/>
          <p:cNvSpPr txBox="1"/>
          <p:nvPr/>
        </p:nvSpPr>
        <p:spPr>
          <a:xfrm>
            <a:off x="581025" y="1552575"/>
            <a:ext cx="554069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Hubungkan Lokal dengan Remote</a:t>
            </a:r>
            <a:endParaRPr lang="en-US" sz="1950" b="0" i="0" u="none" strike="noStrike" cap="none">
              <a:solidFill>
                <a:srgbClr val="38BDF8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305" name="Google Shape;305;p26"/>
          <p:cNvSpPr txBox="1"/>
          <p:nvPr/>
        </p:nvSpPr>
        <p:spPr>
          <a:xfrm>
            <a:off x="581025" y="2200275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Sebagai pembuktian kehadiran dan setup hari ini, Anda diwajibkan mengumpulkan bukti URL Github.</a:t>
            </a:r>
            <a:endParaRPr lang="en-US" sz="1500" b="0" i="0" u="none" strike="noStrike" cap="non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6" name="Google Shape;306;p26"/>
          <p:cNvSpPr txBox="1"/>
          <p:nvPr/>
        </p:nvSpPr>
        <p:spPr>
          <a:xfrm>
            <a:off x="581025" y="3190875"/>
            <a:ext cx="52768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Langkah Instruksional:</a:t>
            </a:r>
            <a:endParaRPr lang="en-US" sz="1500" b="1" i="0" u="none" strike="noStrike" cap="non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7" name="Google Shape;307;p26"/>
          <p:cNvSpPr txBox="1"/>
          <p:nvPr/>
        </p:nvSpPr>
        <p:spPr>
          <a:xfrm>
            <a:off x="666750" y="36861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lang="en-US" sz="1500" b="0" i="0" u="none" strike="noStrike" cap="non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8" name="Google Shape;308;p26"/>
          <p:cNvSpPr txBox="1"/>
          <p:nvPr/>
        </p:nvSpPr>
        <p:spPr>
          <a:xfrm>
            <a:off x="781685" y="3574415"/>
            <a:ext cx="50863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Buat akun baru di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GitHub.com</a:t>
            </a:r>
            <a:endParaRPr lang="en-US" sz="1500" b="1" i="0" u="none" strike="noStrike" cap="non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9" name="Google Shape;309;p26"/>
          <p:cNvSpPr txBox="1"/>
          <p:nvPr/>
        </p:nvSpPr>
        <p:spPr>
          <a:xfrm>
            <a:off x="666750" y="39909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lang="en-US" sz="1500" b="0" i="0" u="none" strike="noStrike" cap="non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0" name="Google Shape;310;p26"/>
          <p:cNvSpPr txBox="1"/>
          <p:nvPr/>
        </p:nvSpPr>
        <p:spPr>
          <a:xfrm>
            <a:off x="781685" y="3879215"/>
            <a:ext cx="53502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Buat Repositori Publik dengan nama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Nama-Nim-pweb2</a:t>
            </a:r>
            <a:endParaRPr lang="en-US" sz="15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1" name="Google Shape;311;p26"/>
          <p:cNvSpPr txBox="1"/>
          <p:nvPr/>
        </p:nvSpPr>
        <p:spPr>
          <a:xfrm>
            <a:off x="666750" y="43053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lang="en-US" sz="1500" b="0" i="0" u="none" strike="noStrike" cap="non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2" name="Google Shape;312;p26"/>
          <p:cNvSpPr txBox="1"/>
          <p:nvPr/>
        </p:nvSpPr>
        <p:spPr>
          <a:xfrm>
            <a:off x="781685" y="4193540"/>
            <a:ext cx="5086500" cy="738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Buat folder di laptop, buka VS Code, buat file biodata.txt</a:t>
            </a:r>
            <a:endParaRPr lang="en-US" sz="1500" b="0" i="0" u="none" strike="noStrike" cap="non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3" name="Google Shape;313;p26"/>
          <p:cNvSpPr txBox="1"/>
          <p:nvPr/>
        </p:nvSpPr>
        <p:spPr>
          <a:xfrm>
            <a:off x="666750" y="49244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lang="en-US" sz="1500" b="0" i="0" u="none" strike="noStrike" cap="non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4" name="Google Shape;314;p26"/>
          <p:cNvSpPr txBox="1"/>
          <p:nvPr/>
        </p:nvSpPr>
        <p:spPr>
          <a:xfrm>
            <a:off x="781685" y="4812665"/>
            <a:ext cx="50863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Jalankan secara urut: git init, git add ., lalu git commit -m "Initial commit"</a:t>
            </a:r>
            <a:endParaRPr lang="en-US" sz="1500" b="0" i="0" u="none" strike="noStrike" cap="non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5" name="Google Shape;315;p26"/>
          <p:cNvSpPr txBox="1"/>
          <p:nvPr/>
        </p:nvSpPr>
        <p:spPr>
          <a:xfrm>
            <a:off x="666750" y="55530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lang="en-US" sz="1500" b="0" i="0" u="none" strike="noStrike" cap="non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6" name="Google Shape;316;p26"/>
          <p:cNvSpPr txBox="1"/>
          <p:nvPr/>
        </p:nvSpPr>
        <p:spPr>
          <a:xfrm>
            <a:off x="781685" y="5441315"/>
            <a:ext cx="50863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Hubungkan dengan perintah git remote add (lihat panduan layar GitHub).</a:t>
            </a:r>
            <a:endParaRPr lang="en-US" sz="1500" b="0" i="0" u="none" strike="noStrike" cap="non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7" name="Google Shape;317;p26"/>
          <p:cNvSpPr txBox="1"/>
          <p:nvPr/>
        </p:nvSpPr>
        <p:spPr>
          <a:xfrm>
            <a:off x="666750" y="61722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lang="en-US" sz="1500" b="0" i="0" u="none" strike="noStrike" cap="non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8" name="Google Shape;318;p26"/>
          <p:cNvSpPr txBox="1"/>
          <p:nvPr/>
        </p:nvSpPr>
        <p:spPr>
          <a:xfrm>
            <a:off x="781685" y="6060440"/>
            <a:ext cx="50863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Jalankan git push dan kumpulkan link webnya.</a:t>
            </a:r>
            <a:endParaRPr lang="en-US" sz="1500" b="0" i="0" u="none" strike="noStrike" cap="non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2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7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786062" y="4475708"/>
            <a:ext cx="6619875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7"/>
          <p:cNvSpPr txBox="1"/>
          <p:nvPr/>
        </p:nvSpPr>
        <p:spPr>
          <a:xfrm>
            <a:off x="305276" y="2279272"/>
            <a:ext cx="11581447" cy="110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Terima Kasih</a:t>
            </a:r>
            <a:endParaRPr lang="en-US" sz="7200" b="1" i="0" u="none" strike="noStrike" cap="none">
              <a:solidFill>
                <a:srgbClr val="F8FAFC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6005</Words>
  <Application>WPS Presentation</Application>
  <PresentationFormat/>
  <Paragraphs>194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0" baseType="lpstr">
      <vt:lpstr>Arial</vt:lpstr>
      <vt:lpstr>SimSun</vt:lpstr>
      <vt:lpstr>Wingdings</vt:lpstr>
      <vt:lpstr>Arial</vt:lpstr>
      <vt:lpstr>Calibri</vt:lpstr>
      <vt:lpstr>Trebuchet MS</vt:lpstr>
      <vt:lpstr>Outfit SemiBold</vt:lpstr>
      <vt:lpstr>C059</vt:lpstr>
      <vt:lpstr>Outfit</vt:lpstr>
      <vt:lpstr>Inter</vt:lpstr>
      <vt:lpstr>Microsoft YaHei</vt:lpstr>
      <vt:lpstr>Droid Sans Fallback</vt:lpstr>
      <vt:lpstr>Arial Unicode MS</vt:lpstr>
      <vt:lpstr>Inter SemiBold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ajibabkh</cp:lastModifiedBy>
  <cp:revision>2</cp:revision>
  <dcterms:created xsi:type="dcterms:W3CDTF">2026-03-02T04:12:25Z</dcterms:created>
  <dcterms:modified xsi:type="dcterms:W3CDTF">2026-03-02T04:12:25Z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